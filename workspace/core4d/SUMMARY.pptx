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11612880" cy="6400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CORE4D → Dual G1 Physics-Based Retargeting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BB"/>
                </a:solidFill>
                <a:latin typeface="Calibri"/>
              </a:defRPr>
            </a:pPr>
            <a:r>
              <a:t>SPIDER SBMPC + Connect + Task-Space Rewards  |  E001–E018  |  2026-04-30 → 05-06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实验路线 (4 Phases → 18 Experiments)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E696"/>
                </a:solidFill>
                <a:latin typeface="Calibri"/>
              </a:defRPr>
            </a:pPr>
            <a:r>
              <a:t>✓  P0 数据管线  (E001)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AAAABB"/>
                </a:solidFill>
                <a:latin typeface="Calibri"/>
              </a:defRPr>
            </a:pPr>
            <a:r>
              <a:t>    holosoma → SPIDER NPZ + scene XML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37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FF5555"/>
                </a:solidFill>
                <a:latin typeface="Calibri"/>
              </a:defRPr>
            </a:pPr>
            <a:r>
              <a:t>✗  P1 单人物理搬运  (E002–E009)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AAAABB"/>
                </a:solidFill>
                <a:latin typeface="Calibri"/>
              </a:defRPr>
            </a:pPr>
            <a:r>
              <a:t>    全败 (obj_z ≤ 0.31m)  根因: 臂展 &lt; box 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488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FFA500"/>
                </a:solidFill>
                <a:latin typeface="Calibri"/>
              </a:defRPr>
            </a:pPr>
            <a:r>
              <a:t>△  P2 + Mocap Partner  (E010–E012)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AAAABB"/>
                </a:solidFill>
                <a:latin typeface="Calibri"/>
              </a:defRPr>
            </a:pPr>
            <a:r>
              <a:t>    E012 导出 hybrid 轨迹 (pelvis_err=0.083m)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5603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FFA500"/>
                </a:solidFill>
                <a:latin typeface="Calibri"/>
              </a:defRPr>
            </a:pPr>
            <a:r>
              <a:t>△  P3 架构修复  (E013–E014)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AAAABB"/>
                </a:solidFill>
                <a:latin typeface="Calibri"/>
              </a:defRPr>
            </a:pPr>
            <a:r>
              <a:t>    Intra-mocap 修复但 CEM 高方差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9718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00E696"/>
                </a:solidFill>
                <a:latin typeface="Calibri"/>
              </a:defRPr>
            </a:pPr>
            <a:r>
              <a:t>★  P4 双机器人  (E015–E018)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AAAABB"/>
                </a:solidFill>
                <a:latin typeface="Calibri"/>
              </a:defRPr>
            </a:pPr>
            <a:r>
              <a:t>    E017 connect 突破 → E018 task-space 最优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429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关键指标演进 (E016 → E017 → E018)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3703320"/>
          <a:ext cx="4190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000"/>
                <a:gridCol w="1000000"/>
                <a:gridCol w="680000"/>
                <a:gridCol w="620000"/>
                <a:gridCol w="530000"/>
                <a:gridCol w="6800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</a:t>
                      </a:r>
                    </a:p>
                  </a:txBody>
                  <a:tcPr anchor="ctr"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obj_err ↓</a:t>
                      </a:r>
                    </a:p>
                  </a:txBody>
                  <a:tcPr anchor="ctr"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obj_z_max</a:t>
                      </a:r>
                    </a:p>
                  </a:txBody>
                  <a:tcPr anchor="ctr"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obj&gt;0.40</a:t>
                      </a:r>
                    </a:p>
                  </a:txBody>
                  <a:tcPr anchor="ctr"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R1 / R2</a:t>
                      </a:r>
                    </a:p>
                    <a:p>
                      <a:r>
                        <a:t>stable</a:t>
                      </a:r>
                    </a:p>
                  </a:txBody>
                  <a:tcPr anchor="ctr">
                    <a:solidFill>
                      <a:srgbClr val="2A2A4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E016-a</a:t>
                      </a:r>
                    </a:p>
                  </a:txBody>
                  <a:tcPr anchor="ctr">
                    <a:solidFill>
                      <a:srgbClr val="1E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Gibbs CEM</a:t>
                      </a:r>
                    </a:p>
                  </a:txBody>
                  <a:tcPr anchor="ctr">
                    <a:solidFill>
                      <a:srgbClr val="1E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E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0.488</a:t>
                      </a:r>
                    </a:p>
                  </a:txBody>
                  <a:tcPr anchor="ctr">
                    <a:solidFill>
                      <a:srgbClr val="1E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瞬间</a:t>
                      </a:r>
                    </a:p>
                  </a:txBody>
                  <a:tcPr anchor="ctr">
                    <a:solidFill>
                      <a:srgbClr val="1E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100% / 100%</a:t>
                      </a:r>
                    </a:p>
                  </a:txBody>
                  <a:tcPr anchor="ctr">
                    <a:solidFill>
                      <a:srgbClr val="1E1E3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E017-d</a:t>
                      </a:r>
                    </a:p>
                  </a:txBody>
                  <a:tcPr anchor="ctr">
                    <a:solidFill>
                      <a:srgbClr val="1E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Soft 2-connect</a:t>
                      </a:r>
                    </a:p>
                  </a:txBody>
                  <a:tcPr anchor="ctr">
                    <a:solidFill>
                      <a:srgbClr val="1E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0.599m</a:t>
                      </a:r>
                    </a:p>
                  </a:txBody>
                  <a:tcPr anchor="ctr">
                    <a:solidFill>
                      <a:srgbClr val="1E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0.597</a:t>
                      </a:r>
                    </a:p>
                  </a:txBody>
                  <a:tcPr anchor="ctr">
                    <a:solidFill>
                      <a:srgbClr val="1E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98%</a:t>
                      </a:r>
                    </a:p>
                  </a:txBody>
                  <a:tcPr anchor="ctr">
                    <a:solidFill>
                      <a:srgbClr val="1E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86% / 89%</a:t>
                      </a:r>
                    </a:p>
                  </a:txBody>
                  <a:tcPr anchor="ctr">
                    <a:solidFill>
                      <a:srgbClr val="1E1E3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E018-d2 ✅</a:t>
                      </a:r>
                    </a:p>
                  </a:txBody>
                  <a:tcPr anchor="ctr">
                    <a:solidFill>
                      <a:srgbClr val="003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Task-space</a:t>
                      </a:r>
                    </a:p>
                    <a:p>
                      <a:r>
                        <a:t>+ Interaction</a:t>
                      </a:r>
                    </a:p>
                  </a:txBody>
                  <a:tcPr anchor="ctr">
                    <a:solidFill>
                      <a:srgbClr val="003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0.308m</a:t>
                      </a:r>
                    </a:p>
                  </a:txBody>
                  <a:tcPr anchor="ctr">
                    <a:solidFill>
                      <a:srgbClr val="003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0.598</a:t>
                      </a:r>
                    </a:p>
                  </a:txBody>
                  <a:tcPr anchor="ctr">
                    <a:solidFill>
                      <a:srgbClr val="003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 anchor="ctr">
                    <a:solidFill>
                      <a:srgbClr val="003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95% / 100%</a:t>
                      </a:r>
                    </a:p>
                  </a:txBody>
                  <a:tcPr anchor="ctr">
                    <a:solidFill>
                      <a:srgbClr val="003D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—对照—</a:t>
                      </a:r>
                    </a:p>
                  </a:txBody>
                  <a:tcPr anchor="ctr">
                    <a:solidFill>
                      <a:srgbClr val="1E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E018 no-connect</a:t>
                      </a:r>
                    </a:p>
                  </a:txBody>
                  <a:tcPr anchor="ctr">
                    <a:solidFill>
                      <a:srgbClr val="1E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0.624m</a:t>
                      </a:r>
                    </a:p>
                  </a:txBody>
                  <a:tcPr anchor="ctr">
                    <a:solidFill>
                      <a:srgbClr val="1E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0.475</a:t>
                      </a:r>
                    </a:p>
                  </a:txBody>
                  <a:tcPr anchor="ctr">
                    <a:solidFill>
                      <a:srgbClr val="1E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11%</a:t>
                      </a:r>
                    </a:p>
                  </a:txBody>
                  <a:tcPr anchor="ctr">
                    <a:solidFill>
                      <a:srgbClr val="1E1E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77% / 56%</a:t>
                      </a:r>
                    </a:p>
                  </a:txBody>
                  <a:tcPr anchor="ctr">
                    <a:solidFill>
                      <a:srgbClr val="1E1E38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48056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核心洞察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298448"/>
            <a:ext cx="3749039" cy="475488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31673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1">
                <a:solidFill>
                  <a:srgbClr val="00D2FF"/>
                </a:solidFill>
                <a:latin typeface="Calibri"/>
              </a:defRPr>
            </a:pPr>
            <a:r>
              <a:t>▸ Connect 约束 = SBMPC 的物理触手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AAAABB"/>
                </a:solidFill>
                <a:latin typeface="Calibri"/>
              </a:defRPr>
            </a:pPr>
            <a:r>
              <a:t>  CEM 短 horizon (1.6s) 无法采样有效接触力 → 把手焊到箱面, CEM 只优化身体, 箱子自动跟随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1828800"/>
            <a:ext cx="3749039" cy="475488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84708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1">
                <a:solidFill>
                  <a:srgbClr val="00D2FF"/>
                </a:solidFill>
                <a:latin typeface="Calibri"/>
              </a:defRPr>
            </a:pPr>
            <a:r>
              <a:t>▸ Task-space 奖励: tracking ↓49%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AAAABB"/>
                </a:solidFill>
                <a:latin typeface="Calibri"/>
              </a:defRPr>
            </a:pPr>
            <a:r>
              <a:t>  DynaRetarget 启发 (obj=40, torso=30, hand=5, foot=10), 无需重写 optimizer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2359152"/>
            <a:ext cx="3749039" cy="475488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377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1">
                <a:solidFill>
                  <a:srgbClr val="00D2FF"/>
                </a:solidFill>
                <a:latin typeface="Calibri"/>
              </a:defRPr>
            </a:pPr>
            <a:r>
              <a:t>▸ Interaction reward 维持协作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AAAABB"/>
                </a:solidFill>
                <a:latin typeface="Calibri"/>
              </a:defRPr>
            </a:pPr>
            <a:r>
              <a:t>  Harmanoid Eq.15: 双 pelvis/torso/wrist 相对距离约束, 防止穿透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2889504"/>
            <a:ext cx="3749039" cy="475488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90779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1">
                <a:solidFill>
                  <a:srgbClr val="00D2FF"/>
                </a:solidFill>
                <a:latin typeface="Calibri"/>
              </a:defRPr>
            </a:pPr>
            <a:r>
              <a:t>▸ Stability ↔ Tracking tradeoff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AAAABB"/>
                </a:solidFill>
                <a:latin typeface="Calibri"/>
              </a:defRPr>
            </a:pPr>
            <a:r>
              <a:t>  obj-only 拉爆 pelvis; base_pos=15 是平衡点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419856"/>
            <a:ext cx="3749039" cy="475488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43814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1">
                <a:solidFill>
                  <a:srgbClr val="00D2FF"/>
                </a:solidFill>
                <a:latin typeface="Calibri"/>
              </a:defRPr>
            </a:pPr>
            <a:r>
              <a:t>▸ 必须 qpos + 视频双验证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AAAABB"/>
                </a:solidFill>
                <a:latin typeface="Calibri"/>
              </a:defRPr>
            </a:pPr>
            <a:r>
              <a:t>  E006/E008 教训: reward 字段不可信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架构 (E018 最佳配置)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1298448"/>
            <a:ext cx="3566160" cy="20116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1344168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FFFFFF"/>
                </a:solidFill>
                <a:latin typeface="Calibri"/>
              </a:defRPr>
            </a:pPr>
            <a:r>
              <a:t>双 G1 机器人 (nq=79, nu=58)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00E696"/>
                </a:solidFill>
                <a:latin typeface="Calibri"/>
              </a:defRPr>
            </a:pPr>
            <a:r>
              <a:t>  + Soft 2-Connect 焊接约束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AAAABB"/>
                </a:solidFill>
                <a:latin typeface="Calibri"/>
              </a:defRPr>
            </a:pPr>
            <a:r>
              <a:t>      solref=-200 -30, base_pos=15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00E696"/>
                </a:solidFill>
                <a:latin typeface="Calibri"/>
              </a:defRPr>
            </a:pPr>
            <a:r>
              <a:t>  + Task-Space Body Rewards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AAAABB"/>
                </a:solidFill>
                <a:latin typeface="Calibri"/>
              </a:defRPr>
            </a:pPr>
            <a:r>
              <a:t>      obj_pos=40, torso=30, hand=5, foot=10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00E696"/>
                </a:solidFill>
                <a:latin typeface="Calibri"/>
              </a:defRPr>
            </a:pPr>
            <a:r>
              <a:t>  + Interaction Reward (Harmanoid)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AAAABB"/>
                </a:solidFill>
                <a:latin typeface="Calibri"/>
              </a:defRPr>
            </a:pPr>
            <a:r>
              <a:t>      σ=5, pairs: pelvis/torso/wrist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00E696"/>
                </a:solidFill>
                <a:latin typeface="Calibri"/>
              </a:defRPr>
            </a:pPr>
            <a:r>
              <a:t>  + Gibbs Sampling CEM Optimizer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AAAABB"/>
                </a:solidFill>
                <a:latin typeface="Calibri"/>
              </a:defRPr>
            </a:pPr>
            <a:r>
              <a:t>      交替优化 Robot1 → Robot2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447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产出文件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3721608"/>
            <a:ext cx="3566160" cy="9144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76732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750" b="0">
                <a:solidFill>
                  <a:srgbClr val="00E696"/>
                </a:solidFill>
                <a:latin typeface="Calibri"/>
              </a:defRPr>
            </a:pPr>
            <a:r>
              <a:t>✅ E018d2_box025_dual_taskspace_basepos15.npz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00E696"/>
                </a:solidFill>
                <a:latin typeface="Calibri"/>
              </a:defRPr>
            </a:pPr>
            <a:r>
              <a:t>✅ E018d2_box025_dual_taskspace_basepos15.mp4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00E696"/>
                </a:solidFill>
                <a:latin typeface="Calibri"/>
              </a:defRPr>
            </a:pPr>
            <a:r>
              <a:t>✅ E018d2_mpc{0,3,5,8,10}.png (关键帧)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00E696"/>
                </a:solidFill>
                <a:latin typeface="Calibri"/>
              </a:defRPr>
            </a:pPr>
            <a:r>
              <a:t>✅ hybrid baseline: box025_p1_holosoma_w_partner.npz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727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下一步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5001768"/>
            <a:ext cx="3566160" cy="77724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504748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FFA500"/>
                </a:solidFill>
                <a:latin typeface="Calibri"/>
              </a:defRPr>
            </a:pPr>
            <a:r>
              <a:t>→ E019: 长 horizon SBMPC (2s → 4s)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A500"/>
                </a:solidFill>
                <a:latin typeface="Calibri"/>
              </a:defRPr>
            </a:pPr>
            <a:r>
              <a:t>→ E020: 完整 SBTO (DynaRetarget pipeline)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FA500"/>
                </a:solidFill>
                <a:latin typeface="Calibri"/>
              </a:defRPr>
            </a:pPr>
            <a:r>
              <a:t>→ RL: E018-d2 → Holosoma RL finetune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99"/>
                </a:solidFill>
                <a:latin typeface="Calibri"/>
              </a:defRPr>
            </a:pPr>
            <a:r>
              <a:t>Phase 1 根因: G1 臂展 0.5m &lt; box025 长 0.61m，单人对夹几何不可解 — 需要协作建模 → Phase 4 双机器人方案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0749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2FF"/>
                </a:solidFill>
                <a:latin typeface="Calibri"/>
              </a:defRPr>
            </a:pPr>
            <a:r>
              <a:t>E018-d2 关键帧 (MPC step 0/3/5/8/10)</a:t>
            </a:r>
          </a:p>
        </p:txBody>
      </p:sp>
      <p:pic>
        <p:nvPicPr>
          <p:cNvPr id="35" name="Picture 34" descr="E018d2_mp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166360"/>
            <a:ext cx="777240" cy="777240"/>
          </a:xfrm>
          <a:prstGeom prst="rect">
            <a:avLst/>
          </a:prstGeom>
        </p:spPr>
      </p:pic>
      <p:pic>
        <p:nvPicPr>
          <p:cNvPr id="36" name="Picture 35" descr="E018d2_mp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166360"/>
            <a:ext cx="777240" cy="777240"/>
          </a:xfrm>
          <a:prstGeom prst="rect">
            <a:avLst/>
          </a:prstGeom>
        </p:spPr>
      </p:pic>
      <p:pic>
        <p:nvPicPr>
          <p:cNvPr id="37" name="Picture 36" descr="E018d2_mp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5166360"/>
            <a:ext cx="777240" cy="777240"/>
          </a:xfrm>
          <a:prstGeom prst="rect">
            <a:avLst/>
          </a:prstGeom>
        </p:spPr>
      </p:pic>
      <p:pic>
        <p:nvPicPr>
          <p:cNvPr id="38" name="Picture 37" descr="E018d2_mpc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5166360"/>
            <a:ext cx="777240" cy="777240"/>
          </a:xfrm>
          <a:prstGeom prst="rect">
            <a:avLst/>
          </a:prstGeom>
        </p:spPr>
      </p:pic>
      <p:pic>
        <p:nvPicPr>
          <p:cNvPr id="39" name="Picture 38" descr="E018d2_mpc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516636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